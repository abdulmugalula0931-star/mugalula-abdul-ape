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29000" cy="6858000"/>
          </a:xfrm>
          <a:prstGeom prst="rect">
            <a:avLst/>
          </a:prstGeom>
          <a:solidFill>
            <a:srgbClr val="25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606040" cy="68580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69880" y="0"/>
            <a:ext cx="1737360" cy="6858000"/>
          </a:xfrm>
          <a:prstGeom prst="rect">
            <a:avLst/>
          </a:prstGeom>
          <a:solidFill>
            <a:srgbClr val="F0B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680960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1600" b="1" i="0">
                <a:solidFill>
                  <a:srgbClr val="F0B13C"/>
                </a:solidFill>
                <a:latin typeface="Aptos"/>
              </a:defRPr>
            </a:pPr>
            <a:r>
              <a:t>GROUP FIVE 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863840" cy="1508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NUMERICAL METHODS</a:t>
            </a:r>
          </a:p>
          <a:p>
            <a:pPr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54680"/>
            <a:ext cx="7223760" cy="5486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CDDFF1"/>
                </a:solidFill>
                <a:latin typeface="Aptos"/>
              </a:defRPr>
            </a:pPr>
            <a:r>
              <a:t>MATLAB FUNCTIONS • FOR LOOPS • WHILE LOOPS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069080"/>
            <a:ext cx="7498079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Prepared by:</a:t>
            </a:r>
          </a:p>
          <a:p>
            <a:pPr>
              <a:spcAft>
                <a:spcPts val="5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Masika Elvin Fortunate — BU/UP/2025/1969</a:t>
            </a:r>
          </a:p>
          <a:p>
            <a:pPr>
              <a:spcAft>
                <a:spcPts val="5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Ahaisibwe Catherine — BU/UP/2025/1967</a:t>
            </a:r>
          </a:p>
          <a:p>
            <a:pPr>
              <a:spcAft>
                <a:spcPts val="5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Mugalula Abdul — BU/UP/2025/3127</a:t>
            </a:r>
          </a:p>
          <a:p>
            <a:pPr>
              <a:spcAft>
                <a:spcPts val="5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Akello Juliet — BU/UP/2025/5985</a:t>
            </a:r>
          </a:p>
          <a:p>
            <a:pPr>
              <a:spcAft>
                <a:spcPts val="5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Haumba Benon — BU/UP/2025/5115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446520"/>
            <a:ext cx="71323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NEWTON–RAPHSON  |  SECANT  |  RUNGE–KUTTA (RK4)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Presentation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6492240" cy="5029200"/>
          </a:xfrm>
          <a:prstGeom prst="rect">
            <a:avLst/>
          </a:prstGeom>
          <a:noFill/>
        </p:spPr>
        <p:txBody>
          <a:bodyPr wrap="square" lIns="146304" rIns="109728" t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Aim: </a:t>
            </a:r>
            <a:r>
              <a:rPr sz="1900">
                <a:solidFill>
                  <a:srgbClr val="232E3C"/>
                </a:solidFill>
                <a:latin typeface="Aptos"/>
              </a:rPr>
              <a:t>implement three numerical methods in MATLAB using functions.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Methods: </a:t>
            </a:r>
            <a:r>
              <a:rPr sz="1900">
                <a:solidFill>
                  <a:srgbClr val="232E3C"/>
                </a:solidFill>
                <a:latin typeface="Aptos"/>
              </a:rPr>
              <a:t>Newton–Raphson, Secant and fourth-order Runge–Kutta (RK4).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Loop structures: </a:t>
            </a:r>
            <a:r>
              <a:rPr sz="1900">
                <a:solidFill>
                  <a:srgbClr val="232E3C"/>
                </a:solidFill>
                <a:latin typeface="Aptos"/>
              </a:rPr>
              <a:t>each method is presented using both FOR and WHILE loops.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Program organization: </a:t>
            </a:r>
            <a:r>
              <a:rPr sz="1900">
                <a:solidFill>
                  <a:srgbClr val="232E3C"/>
                </a:solidFill>
                <a:latin typeface="Aptos"/>
              </a:rPr>
              <a:t>a main function calls local functions; anonymous functions define the equations.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Supporting materials: </a:t>
            </a:r>
            <a:r>
              <a:rPr sz="1900">
                <a:solidFill>
                  <a:srgbClr val="232E3C"/>
                </a:solidFill>
                <a:latin typeface="Aptos"/>
              </a:rPr>
              <a:t>formulas, worked iterations, pseudocode, flowcharts, code structure, results and conclusion.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88720"/>
            <a:ext cx="3931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188720"/>
            <a:ext cx="82296" cy="1234440"/>
          </a:xfrm>
          <a:prstGeom prst="rect">
            <a:avLst/>
          </a:prstGeom>
          <a:solidFill>
            <a:srgbClr val="25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316736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Root-finding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1755648"/>
            <a:ext cx="35661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232E3C"/>
                </a:solidFill>
                <a:latin typeface="Aptos"/>
              </a:defRPr>
            </a:pPr>
            <a:r>
              <a:t>Find x where f(x) = 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697480"/>
            <a:ext cx="3931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697480"/>
            <a:ext cx="82296" cy="12344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825496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Initial-value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3264408"/>
            <a:ext cx="35661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232E3C"/>
                </a:solidFill>
                <a:latin typeface="Aptos"/>
              </a:defRPr>
            </a:pPr>
            <a:r>
              <a:t>Approximate y(x) from a starting condition.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4206240"/>
            <a:ext cx="3931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4206240"/>
            <a:ext cx="82296" cy="1234440"/>
          </a:xfrm>
          <a:prstGeom prst="rect">
            <a:avLst/>
          </a:prstGeom>
          <a:solidFill>
            <a:srgbClr val="F0B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4334255"/>
            <a:ext cx="3566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Target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4773168"/>
            <a:ext cx="35661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232E3C"/>
                </a:solidFill>
                <a:latin typeface="Aptos"/>
              </a:defRPr>
            </a:pPr>
            <a:r>
              <a:t>Tolerance = 0.0001 for root-finding examples.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MATLAB Function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9728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6007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Function type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 in this assignment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Main function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Starts the assignment and calls the numerical-method functions.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Local function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Contains each numerical algorithm and keeps the program organized.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Anonymous function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Defines equations such as f(x) = x^3 − x − 2 and f(x,y) = x + 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Nested function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Not required for these three methods.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Private function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Not required for this assignment.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Recursive function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Not appropriate for these iterative numerical methods.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Class method / callback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Not required; no class-based or GUI/event application is developed.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71500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600" b="1" i="0">
                <a:solidFill>
                  <a:srgbClr val="009196"/>
                </a:solidFill>
                <a:latin typeface="Aptos"/>
              </a:defRPr>
            </a:pPr>
            <a:r>
              <a:t>Key idea: keep each numerical algorithm in its own function, then call it from one main function.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The Three Numerical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3611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43000"/>
            <a:ext cx="82296" cy="4389120"/>
          </a:xfrm>
          <a:prstGeom prst="rect">
            <a:avLst/>
          </a:prstGeom>
          <a:solidFill>
            <a:srgbClr val="25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271016"/>
            <a:ext cx="3246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1. Newton–Raphson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09928"/>
            <a:ext cx="3246120" cy="3703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Uses the function and its derivative.</a:t>
            </a:r>
          </a:p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Update estimate repeatedly until the error is below tolerance.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43000"/>
            <a:ext cx="3611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82296" cy="43891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271016"/>
            <a:ext cx="3246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2. Secant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709928"/>
            <a:ext cx="3246120" cy="3703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Uses two previous estimates to approximate a root.</a:t>
            </a:r>
          </a:p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It does not require an explicit derivative.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143000"/>
            <a:ext cx="3611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143000"/>
            <a:ext cx="82296" cy="4389120"/>
          </a:xfrm>
          <a:prstGeom prst="rect">
            <a:avLst/>
          </a:prstGeom>
          <a:solidFill>
            <a:srgbClr val="F0B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271016"/>
            <a:ext cx="3246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3. Runge–Kutta RK4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709928"/>
            <a:ext cx="3246120" cy="3703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Approximates the solution of an ordinary differential equation.</a:t>
            </a:r>
          </a:p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Combines four slope estimates per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Newton–Raphson: Question and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NEWTON–RAPHSON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1078992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000" b="1" i="0">
                <a:solidFill>
                  <a:srgbClr val="142644"/>
                </a:solidFill>
                <a:latin typeface="Aptos"/>
              </a:defRPr>
            </a:pPr>
            <a:r>
              <a:t>Question: Solve f(x) = x³ − x − 2 using Newton–Raphson, starting with x₀ = 1.5 and tolerance 0.0001.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82296" cy="1371600"/>
          </a:xfrm>
          <a:prstGeom prst="rect">
            <a:avLst/>
          </a:prstGeom>
          <a:solidFill>
            <a:srgbClr val="25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85416"/>
            <a:ext cx="475487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24328"/>
            <a:ext cx="4754879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2100" b="0" i="0">
                <a:solidFill>
                  <a:srgbClr val="232E3C"/>
                </a:solidFill>
                <a:latin typeface="Aptos"/>
              </a:defRPr>
            </a:pPr>
            <a:r>
              <a:t>f(x) = x³ − x − 2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057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2057400"/>
            <a:ext cx="82296" cy="13716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2185416"/>
            <a:ext cx="475487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Derivative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624328"/>
            <a:ext cx="4754879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2100" b="0" i="0">
                <a:solidFill>
                  <a:srgbClr val="232E3C"/>
                </a:solidFill>
                <a:latin typeface="Aptos"/>
              </a:defRPr>
            </a:pPr>
            <a:r>
              <a:t>f′(x) = 3x² − 1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1060704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5B697A"/>
                </a:solidFill>
                <a:latin typeface="Aptos"/>
              </a:defRPr>
            </a:pPr>
            <a:r>
              <a:t>Iteration formula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1014984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  <a:defRPr sz="2700" b="1" i="0">
                <a:solidFill>
                  <a:srgbClr val="2563AA"/>
                </a:solidFill>
                <a:latin typeface="Aptos"/>
              </a:defRPr>
            </a:pPr>
            <a:r>
              <a:t>xₙ₊₁ = xₙ − f(xₙ) / f′(xₙ)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532120"/>
            <a:ext cx="100584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0" i="0">
                <a:solidFill>
                  <a:srgbClr val="232E3C"/>
                </a:solidFill>
                <a:latin typeface="Aptos"/>
              </a:defRPr>
            </a:pPr>
            <a:r>
              <a:t>At each iteration, calculate the new estimate and error = |xₙ₊₁ − xₙ|. Stop when error &lt; 0.0001.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Newton–Raphson: Worked Iterations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NEWTON–RAPHSON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715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Iteration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xₙ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xₙ₊₁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f(xₙ₊₁)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Absolute error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1.521739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0.002137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0.021739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1.521739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1.521380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0.000001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0.000359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1.521380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1.521380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≈ 0.000000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≈ 0.000000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8404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82296" cy="13716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968496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Stopping condition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407408"/>
            <a:ext cx="48463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0" i="0">
                <a:solidFill>
                  <a:srgbClr val="232E3C"/>
                </a:solidFill>
                <a:latin typeface="Aptos"/>
              </a:defRPr>
            </a:pPr>
            <a:r>
              <a:t>The error is below the tolerance of 0.0001.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840480"/>
            <a:ext cx="82296" cy="1371600"/>
          </a:xfrm>
          <a:prstGeom prst="rect">
            <a:avLst/>
          </a:prstGeom>
          <a:solidFill>
            <a:srgbClr val="F0B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968496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Approximate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4407408"/>
            <a:ext cx="48463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2300" b="0" i="0">
                <a:solidFill>
                  <a:srgbClr val="232E3C"/>
                </a:solidFill>
                <a:latin typeface="Aptos"/>
              </a:defRPr>
            </a:pPr>
            <a:r>
              <a:t>x ≈ 1.521380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5B697A"/>
                </a:solidFill>
                <a:latin typeface="Aptos"/>
              </a:defRPr>
            </a:pPr>
            <a:r>
              <a:t>The method uses the derivative f′(x), so it needs a starting estimate where the derivative is not zero.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Newton–Raphson: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NEWTON–RAPHSON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51560"/>
            <a:ext cx="6400800" cy="498348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612648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START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Define f(x) = x^3 - x - 2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Define f'(x) = 3*x^2 - 1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Input x0, tolerance and maximum iterations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FOR each iteration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    xnew = x - f(x)/f'(x)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    error = abs(xnew - x)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    IF error &lt; tolerance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        Display root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        STOP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    END IF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    x = xnew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END FOR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Display root</a:t>
            </a:r>
          </a:p>
          <a:p>
            <a:pPr>
              <a:spcAft>
                <a:spcPts val="0"/>
              </a:spcAft>
              <a:defRPr sz="1600">
                <a:solidFill>
                  <a:srgbClr val="E1EBF5"/>
                </a:solidFill>
                <a:latin typeface="Consolas"/>
              </a:defRPr>
            </a:pPr>
            <a:r>
              <a:t>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417320"/>
            <a:ext cx="3886200" cy="3566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900" b="0" i="0">
                <a:solidFill>
                  <a:srgbClr val="232E3C"/>
                </a:solidFill>
                <a:latin typeface="Aptos"/>
              </a:defRPr>
            </a:pPr>
            <a:r>
              <a:t>Pseudocode describes the logic before it is translated into MATLAB syntax.</a:t>
            </a:r>
          </a:p>
          <a:p>
            <a:pPr>
              <a:spcAft>
                <a:spcPts val="500"/>
              </a:spcAft>
              <a:defRPr sz="1900" b="0" i="0">
                <a:solidFill>
                  <a:srgbClr val="232E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900" b="0" i="0">
                <a:solidFill>
                  <a:srgbClr val="232E3C"/>
                </a:solidFill>
                <a:latin typeface="Aptos"/>
              </a:defRPr>
            </a:pPr>
            <a:r>
              <a:t>The FOR loop limits the number of iterations. The tolerance test allows an early stop when the estimate has converged.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Newton–Raphson: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NEWTON–RAPHSON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Oval 6"/>
          <p:cNvSpPr/>
          <p:nvPr/>
        </p:nvSpPr>
        <p:spPr>
          <a:xfrm>
            <a:off x="4617720" y="960120"/>
            <a:ext cx="2834640" cy="502920"/>
          </a:xfrm>
          <a:prstGeom prst="ellipse">
            <a:avLst/>
          </a:prstGeom>
          <a:solidFill>
            <a:srgbClr val="DAF3F1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400" b="1">
                <a:solidFill>
                  <a:srgbClr val="142644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737360"/>
            <a:ext cx="3931920" cy="640080"/>
          </a:xfrm>
          <a:prstGeom prst="rect">
            <a:avLst/>
          </a:prstGeom>
          <a:solidFill>
            <a:srgbClr val="DEEBF8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Set f, f′, x₀, tolerance and 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2697480"/>
            <a:ext cx="3931920" cy="640080"/>
          </a:xfrm>
          <a:prstGeom prst="rect">
            <a:avLst/>
          </a:prstGeom>
          <a:solidFill>
            <a:srgbClr val="DEEBF8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Compute xnew and error</a:t>
            </a:r>
          </a:p>
        </p:txBody>
      </p:sp>
      <p:sp>
        <p:nvSpPr>
          <p:cNvPr id="10" name="Diamond 9"/>
          <p:cNvSpPr/>
          <p:nvPr/>
        </p:nvSpPr>
        <p:spPr>
          <a:xfrm>
            <a:off x="4343400" y="3657600"/>
            <a:ext cx="3383280" cy="777240"/>
          </a:xfrm>
          <a:prstGeom prst="diamond">
            <a:avLst/>
          </a:prstGeom>
          <a:solidFill>
            <a:srgbClr val="FFEFCC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Is error &lt; tolerance?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3767328"/>
            <a:ext cx="2286000" cy="548640"/>
          </a:xfrm>
          <a:prstGeom prst="rect">
            <a:avLst/>
          </a:prstGeom>
          <a:solidFill>
            <a:srgbClr val="DAF3F1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Display root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0" y="4709160"/>
            <a:ext cx="2286000" cy="502920"/>
          </a:xfrm>
          <a:prstGeom prst="ellipse">
            <a:avLst/>
          </a:prstGeom>
          <a:solidFill>
            <a:srgbClr val="DAF3F1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5074920"/>
            <a:ext cx="3108960" cy="594360"/>
          </a:xfrm>
          <a:prstGeom prst="rect">
            <a:avLst/>
          </a:prstGeom>
          <a:solidFill>
            <a:srgbClr val="DEEBF8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200" b="1">
                <a:solidFill>
                  <a:srgbClr val="142644"/>
                </a:solidFill>
                <a:latin typeface="Aptos"/>
              </a:defRPr>
            </a:pPr>
            <a:r>
              <a:t>Set x = xnew; next iteration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1463040"/>
            <a:ext cx="0" cy="27432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40" y="2377440"/>
            <a:ext cx="0" cy="32004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3337560"/>
            <a:ext cx="0" cy="32004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26679" y="4041648"/>
            <a:ext cx="411481" cy="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26679" y="3730752"/>
            <a:ext cx="3657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1000" b="1" i="0">
                <a:solidFill>
                  <a:srgbClr val="009196"/>
                </a:solidFill>
                <a:latin typeface="Aptos"/>
              </a:defRPr>
            </a:pPr>
            <a: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81160" y="4315968"/>
            <a:ext cx="0" cy="393192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291840" y="4041648"/>
            <a:ext cx="1051560" cy="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46120" y="3730752"/>
            <a:ext cx="457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1000" b="1" i="0">
                <a:solidFill>
                  <a:srgbClr val="B43E3E"/>
                </a:solidFill>
                <a:latin typeface="Aptos"/>
              </a:defRPr>
            </a:pPr>
            <a:r>
              <a:t>NO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91840" y="4041648"/>
            <a:ext cx="0" cy="132588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91840" y="5367528"/>
            <a:ext cx="1188720" cy="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480560" y="3017520"/>
            <a:ext cx="0" cy="2350008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Newton–Raphson: FOR-Loop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NEWTON–RAPHSON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10972800" cy="53035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69848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function root = newtonRaphsonFor(x, tol, N)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f  = @(x) x^3 - x - 2;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df = @(x) 3*x^2 - 1;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for i = 1:N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xnew = x - f(x)/df(x);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err = abs(xnew - x);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fprintf('Iteration %d: x = %.6f, Error = %.6f\n', i, xnew, err);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if err &lt; tol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    x = xnew;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    break;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end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x = xnew;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end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root = x;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Newton–Raphson: WHILE-Loop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NEWTON–RAPHSON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10972800" cy="53035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69848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function root = newtonRaphsonWhile(x, tol, maxIter)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f  = @(x) x^3 - x - 2;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df = @(x) 3*x^2 - 1;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i = 1;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while i &lt;= maxIter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xnew = x - f(x)/df(x);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err = abs(xnew - x);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fprintf('Iteration %d: x = %.6f, Error = %.6f\n', i, xnew, err);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if err &lt; tol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    x = xnew;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    break;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end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x = xnew;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i = i + 1;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end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root = x;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Secant Method: Question and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SECANT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1088136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000" b="1" i="0">
                <a:solidFill>
                  <a:srgbClr val="142644"/>
                </a:solidFill>
                <a:latin typeface="Aptos"/>
              </a:defRPr>
            </a:pPr>
            <a:r>
              <a:t>Question: Find a root of f(x) = x³ − x − 2 using x₀ = 1, x₁ = 2 and tolerance 0.0001.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4937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82296" cy="1097280"/>
          </a:xfrm>
          <a:prstGeom prst="rect">
            <a:avLst/>
          </a:prstGeom>
          <a:solidFill>
            <a:srgbClr val="25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39696"/>
            <a:ext cx="4572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Starting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572000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f(1) = −2 and f(2) =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011680"/>
            <a:ext cx="5120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2011680"/>
            <a:ext cx="82296" cy="10972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2139696"/>
            <a:ext cx="475487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Key difference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2578608"/>
            <a:ext cx="4754879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0" i="0">
                <a:solidFill>
                  <a:srgbClr val="232E3C"/>
                </a:solidFill>
                <a:latin typeface="Aptos"/>
              </a:defRPr>
            </a:pPr>
            <a:r>
              <a:t>Uses two previous estimates; no derivative is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5B697A"/>
                </a:solidFill>
                <a:latin typeface="Aptos"/>
              </a:defRPr>
            </a:pPr>
            <a:r>
              <a:t>Secant iteration formula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51960"/>
            <a:ext cx="10332720" cy="9601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2563AA"/>
                </a:solidFill>
                <a:latin typeface="Aptos"/>
              </a:defRPr>
            </a:pPr>
            <a:r>
              <a:t>xₙ₊₁ = xₙ − f(xₙ)(xₙ − xₙ₋₁) / [f(xₙ) − f(xₙ₋₁)]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0" i="0">
                <a:solidFill>
                  <a:srgbClr val="232E3C"/>
                </a:solidFill>
                <a:latin typeface="Aptos"/>
              </a:defRPr>
            </a:pPr>
            <a:r>
              <a:t>Error = |xₙ₊₁ − xₙ|. The method stops when the error is below 0.0001.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Secant Method: Worked Iterations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SECANT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9728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Iter.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xₙ₋₁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xₙ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xₙ₊₁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f(xₙ₊₁)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Error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1.000000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2.000000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1.333333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−0.962963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0.666667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2.000000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1.333333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1.462687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−0.333339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0.129353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1.333333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1.462687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1.531169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0.058626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0.068483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1.462687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1.531169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1.520926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−0.002693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0.010243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1.531169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1.520926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1.521376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−0.000020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0.000450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1.520926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1.521376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1.521380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≈ 0.000000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0.000003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61772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617720"/>
            <a:ext cx="82296" cy="10972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745736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Convergence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184648"/>
            <a:ext cx="4846320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232E3C"/>
                </a:solidFill>
                <a:latin typeface="Aptos"/>
              </a:defRPr>
            </a:pPr>
            <a:r>
              <a:t>Error falls below 0.0001 at iteration 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61772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617720"/>
            <a:ext cx="82296" cy="1097280"/>
          </a:xfrm>
          <a:prstGeom prst="rect">
            <a:avLst/>
          </a:prstGeom>
          <a:solidFill>
            <a:srgbClr val="F0B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4745736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Approximate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5184648"/>
            <a:ext cx="4846320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2200" b="0" i="0">
                <a:solidFill>
                  <a:srgbClr val="232E3C"/>
                </a:solidFill>
                <a:latin typeface="Aptos"/>
              </a:defRPr>
            </a:pPr>
            <a:r>
              <a:t>x ≈ 1.521380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Secant Method: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SECANT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6583680" cy="516636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630936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START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Define f(x) = x^3 - x - 2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Input x0, x1, tolerance and max iterations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FOR each iteration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denominator = f(x1) - f(x0)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Calculate x2 using the Secant formula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error = abs(x2 - x1)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IF error &lt; tolerance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    Display root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    STOP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END IF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x0 = x1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x1 = x2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END FOR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Display root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417320"/>
            <a:ext cx="3794760" cy="3474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Important safeguard:</a:t>
            </a:r>
          </a:p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If f(xₙ) − f(xₙ₋₁) = 0, the formula would divide by zero. The MATLAB implementation checks the denominator and reports an error if it is zero.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Secant Method: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SECANT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4572000" y="914400"/>
            <a:ext cx="2926080" cy="502920"/>
          </a:xfrm>
          <a:prstGeom prst="ellipse">
            <a:avLst/>
          </a:prstGeom>
          <a:solidFill>
            <a:srgbClr val="DAF3F1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400" b="1">
                <a:solidFill>
                  <a:srgbClr val="142644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1645920"/>
            <a:ext cx="4114800" cy="640080"/>
          </a:xfrm>
          <a:prstGeom prst="rect">
            <a:avLst/>
          </a:prstGeom>
          <a:solidFill>
            <a:srgbClr val="DEEBF8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Set f, x₀, x₁, tolerance and N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2560320"/>
            <a:ext cx="4114800" cy="640080"/>
          </a:xfrm>
          <a:prstGeom prst="rect">
            <a:avLst/>
          </a:prstGeom>
          <a:solidFill>
            <a:srgbClr val="DEEBF8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Calculate denominator and x₂</a:t>
            </a:r>
          </a:p>
        </p:txBody>
      </p:sp>
      <p:sp>
        <p:nvSpPr>
          <p:cNvPr id="10" name="Diamond 9"/>
          <p:cNvSpPr/>
          <p:nvPr/>
        </p:nvSpPr>
        <p:spPr>
          <a:xfrm>
            <a:off x="4251960" y="3520440"/>
            <a:ext cx="3566160" cy="777240"/>
          </a:xfrm>
          <a:prstGeom prst="diamond">
            <a:avLst/>
          </a:prstGeom>
          <a:solidFill>
            <a:srgbClr val="FFEFCC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Is denominator zero?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2377440" cy="640080"/>
          </a:xfrm>
          <a:prstGeom prst="rect">
            <a:avLst/>
          </a:prstGeom>
          <a:solidFill>
            <a:srgbClr val="FAE1E1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Display error</a:t>
            </a:r>
          </a:p>
        </p:txBody>
      </p:sp>
      <p:sp>
        <p:nvSpPr>
          <p:cNvPr id="12" name="Diamond 11"/>
          <p:cNvSpPr/>
          <p:nvPr/>
        </p:nvSpPr>
        <p:spPr>
          <a:xfrm>
            <a:off x="4251960" y="4617720"/>
            <a:ext cx="3566160" cy="777240"/>
          </a:xfrm>
          <a:prstGeom prst="diamond">
            <a:avLst/>
          </a:prstGeom>
          <a:solidFill>
            <a:srgbClr val="FFEFCC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Is error &lt; tolerance?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663440"/>
            <a:ext cx="2468880" cy="594360"/>
          </a:xfrm>
          <a:prstGeom prst="roundRect">
            <a:avLst/>
          </a:prstGeom>
          <a:solidFill>
            <a:srgbClr val="DAF3F1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200" b="1">
                <a:solidFill>
                  <a:srgbClr val="142644"/>
                </a:solidFill>
                <a:latin typeface="Aptos"/>
              </a:defRPr>
            </a:pPr>
            <a:r>
              <a:t>Display root / STOP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5623560"/>
            <a:ext cx="3566160" cy="502920"/>
          </a:xfrm>
          <a:prstGeom prst="rect">
            <a:avLst/>
          </a:prstGeom>
          <a:solidFill>
            <a:srgbClr val="DEEBF8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200" b="1">
                <a:solidFill>
                  <a:srgbClr val="142644"/>
                </a:solidFill>
                <a:latin typeface="Aptos"/>
              </a:defRPr>
            </a:pPr>
            <a:r>
              <a:t>Update x₀ = x₁; x₁ = x₂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1417320"/>
            <a:ext cx="0" cy="22860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2286000"/>
            <a:ext cx="0" cy="27432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3200400"/>
            <a:ext cx="0" cy="32004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926080" y="3904487"/>
            <a:ext cx="1325880" cy="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37560" y="3611880"/>
            <a:ext cx="7315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1" i="0">
                <a:solidFill>
                  <a:srgbClr val="B43E3E"/>
                </a:solidFill>
                <a:latin typeface="Aptos"/>
              </a:defRPr>
            </a:pPr>
            <a:r>
              <a:t>YES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37360" y="4297680"/>
            <a:ext cx="0" cy="59436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28800" y="4434840"/>
            <a:ext cx="4572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1" i="0">
                <a:solidFill>
                  <a:srgbClr val="B43E3E"/>
                </a:solidFill>
                <a:latin typeface="Aptos"/>
              </a:defRPr>
            </a:pPr>
            <a:r>
              <a:t>STOP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4297680"/>
            <a:ext cx="0" cy="32004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72200" y="4370832"/>
            <a:ext cx="36576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1" i="0">
                <a:solidFill>
                  <a:srgbClr val="009196"/>
                </a:solidFill>
                <a:latin typeface="Aptos"/>
              </a:defRPr>
            </a:pPr>
            <a:r>
              <a:t>NO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18120" y="5010912"/>
            <a:ext cx="594360" cy="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09560" y="4754880"/>
            <a:ext cx="4572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1" i="0">
                <a:solidFill>
                  <a:srgbClr val="009196"/>
                </a:solidFill>
                <a:latin typeface="Aptos"/>
              </a:defRPr>
            </a:pPr>
            <a:r>
              <a:t>YES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35040" y="5394960"/>
            <a:ext cx="0" cy="22860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72200" y="5440680"/>
            <a:ext cx="36576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1" i="0">
                <a:solidFill>
                  <a:srgbClr val="B43E3E"/>
                </a:solidFill>
                <a:latin typeface="Aptos"/>
              </a:defRPr>
            </a:pPr>
            <a:r>
              <a:t>NO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566160" y="5870448"/>
            <a:ext cx="685800" cy="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566160" y="2880360"/>
            <a:ext cx="0" cy="2990088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66160" y="2880360"/>
            <a:ext cx="411479" cy="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Secant Method: FOR-Loop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SECANT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10972800" cy="53035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69848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function root = secantFor(x0, x1, tol, N)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f = @(x) x^3 - x - 2;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for i = 1:N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denominator = f(x1) - f(x0);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if denominator == 0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    error('Secant method failed: denominator became zero.');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end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x2 = x1 - (f(x1)*(x1-x0))/denominator;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err = abs(x2-x1);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fprintf('Iteration %d: x = %.6f, Error = %.6f\n', i, x2, err);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if err &lt; tol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    break;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end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x0 = x1;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    x1 = x2;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end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root = x2;</a:t>
            </a:r>
          </a:p>
          <a:p>
            <a:pPr>
              <a:spcAft>
                <a:spcPts val="0"/>
              </a:spcAft>
              <a:defRPr sz="1400">
                <a:solidFill>
                  <a:srgbClr val="E1EBF5"/>
                </a:solidFill>
                <a:latin typeface="Consolas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Secant Method: WHILE-Loop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SECANT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10972800" cy="53035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69848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function root = secantWhile(x0, x1, tol, maxIter)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f = @(x) x^3 - x - 2;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i = 1;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while i &lt;= maxIter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denominator = f(x1) - f(x0);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if denominator == 0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    error('Secant method failed: denominator became zero.');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end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x2 = x1 - (f(x1)*(x1-x0))/denominator;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err = abs(x2-x1);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fprintf('Iteration %d: x = %.6f, Error = %.6f\n', i, x2, err);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if err &lt; tol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    break;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end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x0 = x1;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x1 = x2;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    i = i + 1;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end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root = x2;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Runge–Kutta RK4: Question and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RUNGE–KUTTA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1078992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2000" b="1" i="0">
                <a:solidFill>
                  <a:srgbClr val="142644"/>
                </a:solidFill>
                <a:latin typeface="Aptos"/>
              </a:defRPr>
            </a:pPr>
            <a:r>
              <a:t>Question: Solve dy/dx = x + y, with y(0) = 1, step size h = 0.1, and find y(0.2).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82296" cy="1051560"/>
          </a:xfrm>
          <a:prstGeom prst="rect">
            <a:avLst/>
          </a:prstGeom>
          <a:solidFill>
            <a:srgbClr val="25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93976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Differential equation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32888"/>
            <a:ext cx="3017520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0" i="0">
                <a:solidFill>
                  <a:srgbClr val="232E3C"/>
                </a:solidFill>
                <a:latin typeface="Aptos"/>
              </a:defRPr>
            </a:pPr>
            <a:r>
              <a:t>dy/dx = f(x,y) = x + 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82296" cy="10515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093976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Initial 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32888"/>
            <a:ext cx="3017520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x₀ = 0, y₀ =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96596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65960"/>
            <a:ext cx="82296" cy="1051560"/>
          </a:xfrm>
          <a:prstGeom prst="rect">
            <a:avLst/>
          </a:prstGeom>
          <a:solidFill>
            <a:srgbClr val="F0B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093976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Step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532888"/>
            <a:ext cx="3017520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232E3C"/>
                </a:solidFill>
                <a:latin typeface="Aptos"/>
              </a:defRPr>
            </a:pPr>
            <a:r>
              <a:t>h = 0.1; two steps to x = 0.2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8328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5B697A"/>
                </a:solidFill>
                <a:latin typeface="Aptos"/>
              </a:defRPr>
            </a:pPr>
            <a:r>
              <a:t>Fourth-order Runge–Kutta equations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840480"/>
            <a:ext cx="10698480" cy="20574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31920"/>
            <a:ext cx="10424159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E1EBF5"/>
                </a:solidFill>
                <a:latin typeface="Consolas"/>
              </a:defRPr>
            </a:pPr>
            <a:r>
              <a:t>k1 = h f(xn, yn)</a:t>
            </a:r>
          </a:p>
          <a:p>
            <a:pPr>
              <a:spcAft>
                <a:spcPts val="0"/>
              </a:spcAft>
              <a:defRPr sz="1700">
                <a:solidFill>
                  <a:srgbClr val="E1EBF5"/>
                </a:solidFill>
                <a:latin typeface="Consolas"/>
              </a:defRPr>
            </a:pPr>
            <a:r>
              <a:t>k2 = h f(xn + h/2, yn + k1/2)</a:t>
            </a:r>
          </a:p>
          <a:p>
            <a:pPr>
              <a:spcAft>
                <a:spcPts val="0"/>
              </a:spcAft>
              <a:defRPr sz="1700">
                <a:solidFill>
                  <a:srgbClr val="E1EBF5"/>
                </a:solidFill>
                <a:latin typeface="Consolas"/>
              </a:defRPr>
            </a:pPr>
            <a:r>
              <a:t>k3 = h f(xn + h/2, yn + k2/2)</a:t>
            </a:r>
          </a:p>
          <a:p>
            <a:pPr>
              <a:spcAft>
                <a:spcPts val="0"/>
              </a:spcAft>
              <a:defRPr sz="1700">
                <a:solidFill>
                  <a:srgbClr val="E1EBF5"/>
                </a:solidFill>
                <a:latin typeface="Consolas"/>
              </a:defRPr>
            </a:pPr>
            <a:r>
              <a:t>k4 = h f(xn + h,   yn + k3)</a:t>
            </a:r>
          </a:p>
          <a:p>
            <a:pPr>
              <a:spcAft>
                <a:spcPts val="0"/>
              </a:spcAft>
              <a:defRPr sz="1700">
                <a:solidFill>
                  <a:srgbClr val="E1EBF5"/>
                </a:solidFill>
                <a:latin typeface="Consolas"/>
              </a:defRPr>
            </a:pPr>
            <a:r>
              <a:t>yn+1 = yn + (k1 + 2k2 + 2k3 + k4)/6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RK4: Worked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RUNGE–KUTTA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97280"/>
          <a:ext cx="11338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792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k₁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k₂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k₃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k₄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New x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New y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0.10000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0.11000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0.11050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0.12105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0.10000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1.11034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0.10000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1.11034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0.12103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0.13209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0.13264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0.14430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0.20000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1.24280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977639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977639"/>
            <a:ext cx="82296" cy="1325880"/>
          </a:xfrm>
          <a:prstGeom prst="rect">
            <a:avLst/>
          </a:prstGeom>
          <a:solidFill>
            <a:srgbClr val="25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105655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544568"/>
            <a:ext cx="48463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232E3C"/>
                </a:solidFill>
                <a:latin typeface="Aptos"/>
              </a:defRPr>
            </a:pPr>
            <a:r>
              <a:t>At x = 0.0, y = 1.0, calculate k₁ to k₄ and update y to approximately 1.110342.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977639"/>
            <a:ext cx="82296" cy="13258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4105655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4544568"/>
            <a:ext cx="48463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600" b="0" i="0">
                <a:solidFill>
                  <a:srgbClr val="232E3C"/>
                </a:solidFill>
                <a:latin typeface="Aptos"/>
              </a:defRPr>
            </a:pPr>
            <a:r>
              <a:t>Repeat from x = 0.1 to reach y(0.2) ≈ 1.242805.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500" b="0" i="0">
                <a:solidFill>
                  <a:srgbClr val="5B697A"/>
                </a:solidFill>
                <a:latin typeface="Aptos"/>
              </a:defRPr>
            </a:pPr>
            <a:r>
              <a:t>The weighted average gives more influence to the midpoint slopes k₂ and k₃.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RK4: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RUNGE–KUTTA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6492240" cy="521208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62179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START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Define f(x,y) = x + y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Input x0, y0, step size h and final x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FOR each step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k1 = h*f(x,y)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k2 = h*f(x+h/2, y+k1/2)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k3 = h*f(x+h/2, y+k2/2)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k4 = h*f(x+h, y+k3)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y = y + (k1+2*k2+2*k3+k4)/6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x = x + h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END FOR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Display final y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417320"/>
            <a:ext cx="3931920" cy="3566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For this problem:</a:t>
            </a:r>
          </a:p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• Start at (x, y) = (0, 1).</a:t>
            </a:r>
          </a:p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• Use h = 0.1.</a:t>
            </a:r>
          </a:p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• Repeat until x = 0.2.</a:t>
            </a:r>
          </a:p>
          <a:p>
            <a:pPr>
              <a:spcAft>
                <a:spcPts val="500"/>
              </a:spcAft>
              <a:defRPr sz="1800" b="0" i="0">
                <a:solidFill>
                  <a:srgbClr val="232E3C"/>
                </a:solidFill>
                <a:latin typeface="Aptos"/>
              </a:defRPr>
            </a:pPr>
            <a:r>
              <a:t>• Each step calculates four slope estimates before updating x and 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RK4: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RUNGE–KUTTA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Oval 6"/>
          <p:cNvSpPr/>
          <p:nvPr/>
        </p:nvSpPr>
        <p:spPr>
          <a:xfrm>
            <a:off x="4572000" y="914400"/>
            <a:ext cx="2926080" cy="502920"/>
          </a:xfrm>
          <a:prstGeom prst="ellipse">
            <a:avLst/>
          </a:prstGeom>
          <a:solidFill>
            <a:srgbClr val="DAF3F1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400" b="1">
                <a:solidFill>
                  <a:srgbClr val="142644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1645920"/>
            <a:ext cx="4297680" cy="640080"/>
          </a:xfrm>
          <a:prstGeom prst="rect">
            <a:avLst/>
          </a:prstGeom>
          <a:solidFill>
            <a:srgbClr val="DEEBF8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Set f(x,y), x₀, y₀, h and xend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2560320"/>
            <a:ext cx="4297680" cy="640080"/>
          </a:xfrm>
          <a:prstGeom prst="rect">
            <a:avLst/>
          </a:prstGeom>
          <a:solidFill>
            <a:srgbClr val="DEEBF8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Calculate k₁, k₂, k₃ and k₄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3474720"/>
            <a:ext cx="4297680" cy="640080"/>
          </a:xfrm>
          <a:prstGeom prst="rect">
            <a:avLst/>
          </a:prstGeom>
          <a:solidFill>
            <a:srgbClr val="DEEBF8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Update y; update x = x + h</a:t>
            </a:r>
          </a:p>
        </p:txBody>
      </p:sp>
      <p:sp>
        <p:nvSpPr>
          <p:cNvPr id="11" name="Diamond 10"/>
          <p:cNvSpPr/>
          <p:nvPr/>
        </p:nvSpPr>
        <p:spPr>
          <a:xfrm>
            <a:off x="4251960" y="4434840"/>
            <a:ext cx="3566160" cy="777240"/>
          </a:xfrm>
          <a:prstGeom prst="diamond">
            <a:avLst/>
          </a:prstGeom>
          <a:solidFill>
            <a:srgbClr val="FFEFCC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Has x reached xend?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4572000"/>
            <a:ext cx="2560320" cy="594360"/>
          </a:xfrm>
          <a:prstGeom prst="rect">
            <a:avLst/>
          </a:prstGeom>
          <a:solidFill>
            <a:srgbClr val="DAF3F1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Display final y</a:t>
            </a:r>
          </a:p>
        </p:txBody>
      </p:sp>
      <p:sp>
        <p:nvSpPr>
          <p:cNvPr id="13" name="Oval 12"/>
          <p:cNvSpPr/>
          <p:nvPr/>
        </p:nvSpPr>
        <p:spPr>
          <a:xfrm>
            <a:off x="8366760" y="5486400"/>
            <a:ext cx="2560320" cy="502920"/>
          </a:xfrm>
          <a:prstGeom prst="ellipse">
            <a:avLst/>
          </a:prstGeom>
          <a:solidFill>
            <a:srgbClr val="DAF3F1"/>
          </a:solidFill>
          <a:ln w="15240">
            <a:solidFill>
              <a:srgbClr val="256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300" b="1">
                <a:solidFill>
                  <a:srgbClr val="142644"/>
                </a:solidFill>
                <a:latin typeface="Aptos"/>
              </a:defRPr>
            </a:pPr>
            <a:r>
              <a:t>STOP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1417320"/>
            <a:ext cx="0" cy="22860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40" y="2286000"/>
            <a:ext cx="0" cy="27432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3200400"/>
            <a:ext cx="0" cy="27432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4114800"/>
            <a:ext cx="0" cy="32004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18120" y="4828032"/>
            <a:ext cx="548640" cy="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882127" y="4572000"/>
            <a:ext cx="4572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1" i="0">
                <a:solidFill>
                  <a:srgbClr val="009196"/>
                </a:solidFill>
                <a:latin typeface="Aptos"/>
              </a:defRPr>
            </a:pPr>
            <a:r>
              <a:t>YES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46920" y="5166360"/>
            <a:ext cx="0" cy="32004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200400" y="4828032"/>
            <a:ext cx="1051560" cy="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37560" y="4572000"/>
            <a:ext cx="4572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1" i="0">
                <a:solidFill>
                  <a:srgbClr val="B43E3E"/>
                </a:solidFill>
                <a:latin typeface="Aptos"/>
              </a:defRPr>
            </a:pPr>
            <a: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200400" y="2880360"/>
            <a:ext cx="0" cy="1947672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00400" y="2880360"/>
            <a:ext cx="685800" cy="0"/>
          </a:xfrm>
          <a:prstGeom prst="line">
            <a:avLst/>
          </a:prstGeom>
          <a:ln w="20320">
            <a:solidFill>
              <a:srgbClr val="256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RK4: FOR-Loop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RUNGE–KUTTA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10972800" cy="53035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69848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function [y, x] = RK4For(x, y, h, xend)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f = @(x,y) x + y;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N = round((xend-x)/h);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for i = 1:N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k1 = h*f(x,y);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k2 = h*f(x+h/2, y+k1/2);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k3 = h*f(x+h/2, y+k2/2);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k4 = h*f(x+h, y+k3);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y = y + (k1+2*k2+2*k3+k4)/6;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x = x + h;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fprintf('Step %d: x = %.2f, y = %.6f\n', i, x, y);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end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RK4: WHILE-Loop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RUNGE–KUTTA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10972800" cy="53035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69848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function [y, x] = RK4While(x, y, h, xend)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f = @(x,y) x + y;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i = 1;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while x &lt; xend - 1e-12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k1 = h*f(x,y);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k2 = h*f(x+h/2, y+k1/2);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k3 = h*f(x+h/2, y+k2/2);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k4 = h*f(x+h, y+k3);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y = y + (k1+2*k2+2*k3+k4)/6;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x = x + h;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fprintf('Step %d: x = %.2f, y = %.6f\n', i, x, y);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    i = i + 1;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end</a:t>
            </a:r>
          </a:p>
          <a:p>
            <a:pPr>
              <a:spcAft>
                <a:spcPts val="0"/>
              </a:spcAft>
              <a:defRPr sz="1500">
                <a:solidFill>
                  <a:srgbClr val="E1EBF5"/>
                </a:solidFill>
                <a:latin typeface="Consolas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Complete MATLAB Program: Main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10972800" cy="53035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69848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function numerical_methods_assignment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clc; clear;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fprintf('NUMERICAL METHODS ASSIGNMENT\n');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% Newton–Raphson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root1 = newtonRaphsonFor(1.5, 0.0001, 20);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root2 = newtonRaphsonWhile(1.5, 0.0001, 20);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% Secant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root3 = secantFor(1, 2, 0.0001, 20);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root4 = secantWhile(1, 2, 0.0001, 20);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% RK4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[yFor, xFor] = RK4For(0, 1, 0.1, 0.2);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[yWhile, xWhile] = RK4While(0, 1, 0.1, 0.2);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fprintf('Newton FOR root = %.6f\n', root1);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fprintf('Newton WHILE root = %.6f\n', root2);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fprintf('Secant FOR root = %.6f\n', root3);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fprintf('Secant WHILE root = %.6f\n', root4);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fprintf('RK4 FOR y(%.1f) = %.6f\n', xFor, yFor);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fprintf('RK4 WHILE y(%.1f) = %.6f\n', xWhile, yWhile);</a:t>
            </a:r>
          </a:p>
          <a:p>
            <a:pPr>
              <a:spcAft>
                <a:spcPts val="0"/>
              </a:spcAft>
              <a:defRPr sz="1300">
                <a:solidFill>
                  <a:srgbClr val="E1EBF5"/>
                </a:solidFill>
                <a:latin typeface="Consolas"/>
              </a:defRPr>
            </a:pPr>
            <a:r>
              <a:t>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7899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1100" b="1" i="0">
                <a:solidFill>
                  <a:srgbClr val="009196"/>
                </a:solidFill>
                <a:latin typeface="Aptos"/>
              </a:defRPr>
            </a:pPr>
            <a:r>
              <a:t>Save the complete program and all local functions in one file named numerical_methods_assignment.m.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How to Run the MATLAB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789920" cy="4389120"/>
          </a:xfrm>
          <a:prstGeom prst="rect">
            <a:avLst/>
          </a:prstGeom>
          <a:noFill/>
        </p:spPr>
        <p:txBody>
          <a:bodyPr wrap="square" lIns="146304" rIns="109728" t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1. Save: </a:t>
            </a:r>
            <a:r>
              <a:rPr sz="1900">
                <a:solidFill>
                  <a:srgbClr val="232E3C"/>
                </a:solidFill>
                <a:latin typeface="Aptos"/>
              </a:rPr>
              <a:t>put the main function first, followed by all local functions, in numerical_methods_assignment.m.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2. Set folder: </a:t>
            </a:r>
            <a:r>
              <a:rPr sz="1900">
                <a:solidFill>
                  <a:srgbClr val="232E3C"/>
                </a:solidFill>
                <a:latin typeface="Aptos"/>
              </a:rPr>
              <a:t>make the folder containing the .m file MATLAB's Current Folder.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3. Run: </a:t>
            </a:r>
            <a:r>
              <a:rPr sz="1900">
                <a:solidFill>
                  <a:srgbClr val="232E3C"/>
                </a:solidFill>
                <a:latin typeface="Aptos"/>
              </a:rPr>
              <a:t>type numerical_methods_assignment in the Command Window, or open the file and click Run.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4. Inspect: </a:t>
            </a:r>
            <a:r>
              <a:rPr sz="1900">
                <a:solidFill>
                  <a:srgbClr val="232E3C"/>
                </a:solidFill>
                <a:latin typeface="Aptos"/>
              </a:rPr>
              <a:t>read the Command Window output for each method's iterations and final value.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5. Verify: </a:t>
            </a:r>
            <a:r>
              <a:rPr sz="1900">
                <a:solidFill>
                  <a:srgbClr val="232E3C"/>
                </a:solidFill>
                <a:latin typeface="Aptos"/>
              </a:rPr>
              <a:t>check that both loop versions give the same approximate result for each method.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486400"/>
            <a:ext cx="102412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5486400"/>
            <a:ext cx="82296" cy="5943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5614416"/>
            <a:ext cx="987551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Expected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6053328"/>
            <a:ext cx="9875519" cy="-914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0" i="0">
                <a:solidFill>
                  <a:srgbClr val="232E3C"/>
                </a:solidFill>
                <a:latin typeface="Aptos"/>
              </a:defRPr>
            </a:pPr>
            <a:r>
              <a:t>Root ≈ 1.521380  |  RK4 y(0.2) ≈ 1.242805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Expected MATLAB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3444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83325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 / implementation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Newton–Raphson — FOR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Root ≈ 1.521380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Newton–Raphson — WHILE loop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Root ≈ 1.521380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Secant — FOR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Root ≈ 1.521380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Secant — WHILE loop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Root ≈ 1.521380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RK4 — FOR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y(0.2) ≈ 1.242805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RK4 — WHILE loop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y(0.2) ≈ 1.242805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983480"/>
            <a:ext cx="102412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800" b="1" i="0">
                <a:solidFill>
                  <a:srgbClr val="009196"/>
                </a:solidFill>
                <a:latin typeface="Aptos"/>
              </a:defRPr>
            </a:pPr>
            <a:r>
              <a:t>Consistency check: FOR and WHILE versions should agree because they implement the same numerical formulas and stopping conditions.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FOR Loop vs WHILE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32588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 loop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WHILE loop</a:t>
                      </a:r>
                    </a:p>
                  </a:txBody>
                  <a:tcPr anchor="ctr">
                    <a:solidFill>
                      <a:srgbClr val="1426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Usually used when the iteration count is known or bounded.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Repeats while a condition remains true.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Newton and Secant use a maximum number N of iterations.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Newton and Secant test i ≤ maxIter.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RK4 calculates N = (xend − x)/h steps.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RK4 continues while x has not reached xend.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May stop early using break when tolerance is reached.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E3C"/>
                          </a:solidFill>
                          <a:latin typeface="Aptos"/>
                        </a:defRPr>
                      </a:pPr>
                      <a:r>
                        <a:t>Also may stop early using break when tolerance is reached.</a:t>
                      </a:r>
                    </a:p>
                  </a:txBody>
                  <a:tcPr anchor="ctr">
                    <a:solidFill>
                      <a:srgbClr val="DEEB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4983480"/>
            <a:ext cx="10332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983480"/>
            <a:ext cx="82296" cy="822960"/>
          </a:xfrm>
          <a:prstGeom prst="rect">
            <a:avLst/>
          </a:prstGeom>
          <a:solidFill>
            <a:srgbClr val="F0B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5111496"/>
            <a:ext cx="99669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142644"/>
                </a:solidFill>
                <a:latin typeface="Aptos"/>
              </a:defRPr>
            </a:pPr>
            <a:r>
              <a:t>Main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5550408"/>
            <a:ext cx="99669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500"/>
              </a:spcAft>
              <a:defRPr sz="1700" b="0" i="0">
                <a:solidFill>
                  <a:srgbClr val="232E3C"/>
                </a:solidFill>
                <a:latin typeface="Aptos"/>
              </a:defRPr>
            </a:pPr>
            <a:r>
              <a:t>Both loop types are valid; correct initialization, update steps and stopping tests are essential.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789920" cy="4114800"/>
          </a:xfrm>
          <a:prstGeom prst="rect">
            <a:avLst/>
          </a:prstGeom>
          <a:noFill/>
        </p:spPr>
        <p:txBody>
          <a:bodyPr wrap="square" lIns="146304" rIns="109728" t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Newton–Raphson: </a:t>
            </a:r>
            <a:r>
              <a:rPr sz="1900">
                <a:solidFill>
                  <a:srgbClr val="232E3C"/>
                </a:solidFill>
                <a:latin typeface="Aptos"/>
              </a:rPr>
              <a:t>uses f(x) and f′(x) to converge to the root x ≈ 1.521380.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Secant: </a:t>
            </a:r>
            <a:r>
              <a:rPr sz="1900">
                <a:solidFill>
                  <a:srgbClr val="232E3C"/>
                </a:solidFill>
                <a:latin typeface="Aptos"/>
              </a:rPr>
              <a:t>uses two previous approximations and also converges to x ≈ 1.521380.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RK4: </a:t>
            </a:r>
            <a:r>
              <a:rPr sz="1900">
                <a:solidFill>
                  <a:srgbClr val="232E3C"/>
                </a:solidFill>
                <a:latin typeface="Aptos"/>
              </a:rPr>
              <a:t>uses four slope estimates per step to approximate y(0.2) ≈ 1.242805.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MATLAB implementation: </a:t>
            </a:r>
            <a:r>
              <a:rPr sz="1900">
                <a:solidFill>
                  <a:srgbClr val="232E3C"/>
                </a:solidFill>
                <a:latin typeface="Aptos"/>
              </a:rPr>
              <a:t>each method is implemented using functions with both FOR-loop and WHILE-loop versions.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232E3C"/>
                </a:solidFill>
                <a:latin typeface="Aptos"/>
              </a:rPr>
              <a:t>• Learning outcome: </a:t>
            </a:r>
            <a:r>
              <a:rPr sz="1900">
                <a:solidFill>
                  <a:srgbClr val="232E3C"/>
                </a:solidFill>
                <a:latin typeface="Aptos"/>
              </a:rPr>
              <a:t>pseudocode and flowcharts make the algorithm logic clear before coding.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 i="0">
                <a:solidFill>
                  <a:srgbClr val="009196"/>
                </a:solidFill>
                <a:latin typeface="Aptos"/>
              </a:defRPr>
            </a:pPr>
            <a:r>
              <a:t>The methods produce the expected results for the examples in this assignment.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5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64592"/>
            <a:ext cx="114300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0B13C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005840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spcAft>
                <a:spcPts val="500"/>
              </a:spcAft>
              <a:defRPr sz="900" b="0" i="0">
                <a:solidFill>
                  <a:srgbClr val="5B697A"/>
                </a:solidFill>
                <a:latin typeface="Aptos"/>
              </a:defRPr>
            </a:pPr>
            <a:r>
              <a:t>GROUP FIVE APE  •  NUMERICAL METHODS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5943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5B697A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3474720"/>
          </a:xfrm>
          <a:prstGeom prst="rect">
            <a:avLst/>
          </a:prstGeom>
          <a:noFill/>
        </p:spPr>
        <p:txBody>
          <a:bodyPr wrap="square" lIns="146304" rIns="109728" tIns="9144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E3C"/>
                </a:solidFill>
                <a:latin typeface="Aptos"/>
              </a:defRPr>
            </a:pPr>
            <a:r>
              <a:t>• Chapra, S. C. &amp; Canale, R. P., Numerical Methods for Engineers.</a:t>
            </a:r>
          </a:p>
          <a:p>
            <a:pPr>
              <a:spcAft>
                <a:spcPts val="1000"/>
              </a:spcAft>
              <a:defRPr sz="2000">
                <a:solidFill>
                  <a:srgbClr val="232E3C"/>
                </a:solidFill>
                <a:latin typeface="Aptos"/>
              </a:defRPr>
            </a:pPr>
            <a:r>
              <a:t>• Burden, R. L. &amp; Faires, J. D., Numerical Analysis.</a:t>
            </a:r>
          </a:p>
          <a:p>
            <a:pPr>
              <a:spcAft>
                <a:spcPts val="1000"/>
              </a:spcAft>
              <a:defRPr sz="2000">
                <a:solidFill>
                  <a:srgbClr val="232E3C"/>
                </a:solidFill>
                <a:latin typeface="Aptos"/>
              </a:defRPr>
            </a:pPr>
            <a:r>
              <a:t>• MATLAB documentation and classroom numerical-methods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2412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  <a:defRPr sz="2800" b="1" i="0">
                <a:solidFill>
                  <a:srgbClr val="142644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